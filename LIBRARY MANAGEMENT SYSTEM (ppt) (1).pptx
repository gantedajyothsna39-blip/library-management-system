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76" r:id="rId5"/>
    <p:sldId id="258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F4006F-C839-4CD2-98B6-E19E4359FF4E}" v="34" dt="2026-01-08T09:24:17.4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19DD7-B7CC-96DE-4FF6-98F5F2715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0081F-EDD0-9F1D-CB97-ABDEC4839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B2209-8B49-16DB-3BC8-E7F4529C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20E1-E34B-4F6B-ADDC-B8F56536192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4C02F-4554-36AE-F577-70001E11E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E6826-44F5-4DAC-BE9A-ADA7130C9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B45F3-21A8-4880-A005-0961C956E0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867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D374B-5672-13FC-6172-07D2E4A7F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EFE63-C7BF-1EB3-25AB-1D8F38714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2C807-9684-41D8-6252-5B6E82FD7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20E1-E34B-4F6B-ADDC-B8F56536192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52018-98B6-39EC-C6B4-AA63DDFFC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6A63C-B406-4290-062F-9842EEB5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B45F3-21A8-4880-A005-0961C956E0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B6A5-86F6-BF75-C483-09DAE1ACF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897F0-E36D-6AB0-9D5E-0D85F4ADD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7ED7A-D456-7A60-B6A5-0D126F24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20E1-E34B-4F6B-ADDC-B8F56536192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8ADB0-FD84-E486-22A2-C569B4EBB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84140-7849-C509-52BF-B3A46DF55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B45F3-21A8-4880-A005-0961C956E0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43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1B4A2-BDF0-78E9-CA3F-66D916BD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01CC7-0558-BD1E-F455-6067E827F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A48FD-8659-1B95-9D6D-1AE631422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D7F6A-670D-8F6D-B859-E206576D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20E1-E34B-4F6B-ADDC-B8F56536192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3AA4B-6A91-9354-1A1B-71B2A380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AEAA0-469A-2C8E-D5A7-79668250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B45F3-21A8-4880-A005-0961C956E0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030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5BF3-57D9-9D7A-F39C-E3FB7369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C1008-97E8-3E29-F0E2-7CED70782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BFC79-2B52-8751-0805-206F39536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0E3118-F31B-6616-9F04-3A28AB915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17D3C7-F972-0EEE-B335-51DD10CBD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7AFA17-4E29-489D-814B-E2022E30B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20E1-E34B-4F6B-ADDC-B8F56536192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3105CF-5CA0-F346-30CC-101D7BCE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956578-FEC9-859B-C51A-6D597747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B45F3-21A8-4880-A005-0961C956E0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412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9A630-4EFD-3D22-84DB-A3525BCDB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9B355E-8F34-03A4-28E6-5610885B7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20E1-E34B-4F6B-ADDC-B8F56536192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93A12-1F0A-0315-4514-0E141C681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2EB843-E7D7-07C7-F55F-159A7C5A3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B45F3-21A8-4880-A005-0961C956E0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61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C9729E-61C6-3F3B-B5E2-819A1C1DF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20E1-E34B-4F6B-ADDC-B8F56536192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85A49-A5C0-207F-A904-7F087E742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478EF-E959-FD4B-4B8F-C77EB44F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B45F3-21A8-4880-A005-0961C956E0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439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1AAE7-408B-2BDC-6FCE-8FCD107F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2FB4C-24AD-FE02-11C2-68DB96D6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1B92C7-5644-C4F1-0A58-4C347F52B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53995-E3EE-D206-138E-B59CB711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20E1-E34B-4F6B-ADDC-B8F56536192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3E816-1CC6-E4AA-6394-83FAECE10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B67A1-E64C-80DA-1C60-5B345AEF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B45F3-21A8-4880-A005-0961C956E0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39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6389-64F5-0788-FEB4-AD457BDA8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0E53A-8F04-9A02-044F-CD7FE1C9E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2429F-248C-CC8E-9213-2FF857479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C6F0A-4490-7F85-3D54-2441B7A1E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20E1-E34B-4F6B-ADDC-B8F56536192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1CE44-5436-660A-9CE3-0FDAFF6C2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52615-A7D9-3884-E648-6C4BBDBE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B45F3-21A8-4880-A005-0961C956E0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360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50EB-7EBA-12F2-0F5C-1B9B46AA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CFCDA5-E1EC-2895-8C3A-56054AA60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D8DFB-62F0-CC7A-950F-D11CC40C1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20E1-E34B-4F6B-ADDC-B8F56536192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5CAE3-DD72-DC83-6C7F-354853F70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FE9DB-68F7-EABF-8297-CB029FC0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B45F3-21A8-4880-A005-0961C956E0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37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DF4ED2-9B30-9ABA-12FC-F332C42B2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4266BC-A86F-01B7-AD52-A0DB74A5C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9AF2C-3CD2-B078-9B3D-F6C2DF928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20E1-E34B-4F6B-ADDC-B8F56536192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DBC74-F23B-1860-2ABF-9072344E0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1D670-63DD-80A2-0124-E44E0865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B45F3-21A8-4880-A005-0961C956E0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59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AE8757-F37B-BA13-8ECF-988E3B0BD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94567-1D7D-1E1B-9A33-15223C592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1FBBE-79F7-4945-71A5-C8DEAF283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20E1-E34B-4F6B-ADDC-B8F56536192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E6E5-6666-D8B9-168C-2938EA125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A4CF6-6F41-BA55-0634-65785C50B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B45F3-21A8-4880-A005-0961C956E0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1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7C66-A563-8D39-FBED-3F3B2B6B68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LIBRARY MANAGEMENT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83260-41F5-C5EC-9233-04FE622E19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25211A05H3  (GANTEDA JYOTHSNA) </a:t>
            </a:r>
          </a:p>
          <a:p>
            <a:r>
              <a:rPr lang="en-US" dirty="0"/>
              <a:t>25211A05J4      </a:t>
            </a:r>
            <a:r>
              <a:rPr lang="en-US"/>
              <a:t>(GONDALA </a:t>
            </a:r>
            <a:r>
              <a:rPr lang="en-US" dirty="0"/>
              <a:t>AAYURDH)</a:t>
            </a:r>
          </a:p>
          <a:p>
            <a:r>
              <a:rPr lang="en-US" dirty="0"/>
              <a:t>25211A05J5  (GONGULA SRI OJASVI)</a:t>
            </a:r>
          </a:p>
          <a:p>
            <a:r>
              <a:rPr lang="en-US" dirty="0"/>
              <a:t>25211A05J6      (GOSU MANASA SRI)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59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EE55-5AAC-7CB8-4E47-77A020D4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Idea in bullet point 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41E01C-45F0-58FB-D2D5-A82537AE7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dirty="0"/>
              <a:t> -  Manages library resources such as </a:t>
            </a:r>
            <a:r>
              <a:rPr lang="en-IN" b="1" dirty="0"/>
              <a:t>books and members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 -  Allows </a:t>
            </a:r>
            <a:r>
              <a:rPr lang="en-IN" b="1" dirty="0"/>
              <a:t>adding, updating, searching, and deleting books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 - Stores book details:</a:t>
            </a:r>
          </a:p>
          <a:p>
            <a:pPr lvl="1"/>
            <a:r>
              <a:rPr lang="en-IN" dirty="0"/>
              <a:t>Book ID</a:t>
            </a:r>
          </a:p>
          <a:p>
            <a:pPr lvl="1"/>
            <a:r>
              <a:rPr lang="en-IN" dirty="0"/>
              <a:t>Title</a:t>
            </a:r>
          </a:p>
          <a:p>
            <a:pPr lvl="1"/>
            <a:r>
              <a:rPr lang="en-IN" dirty="0"/>
              <a:t>Author</a:t>
            </a:r>
          </a:p>
          <a:p>
            <a:pPr lvl="1"/>
            <a:r>
              <a:rPr lang="en-IN" dirty="0"/>
              <a:t>Category</a:t>
            </a:r>
          </a:p>
          <a:p>
            <a:pPr lvl="1"/>
            <a:r>
              <a:rPr lang="en-IN" dirty="0"/>
              <a:t>Availability status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8839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B01311-540E-73A2-E6A8-AF56DCDFA3BB}"/>
              </a:ext>
            </a:extLst>
          </p:cNvPr>
          <p:cNvSpPr txBox="1"/>
          <p:nvPr/>
        </p:nvSpPr>
        <p:spPr>
          <a:xfrm>
            <a:off x="275303" y="403123"/>
            <a:ext cx="11661058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dirty="0"/>
              <a:t>- Manages library members:</a:t>
            </a:r>
          </a:p>
          <a:p>
            <a:pPr lvl="1"/>
            <a:r>
              <a:rPr lang="en-IN" sz="2400" dirty="0"/>
              <a:t>Member ID</a:t>
            </a:r>
          </a:p>
          <a:p>
            <a:pPr lvl="1"/>
            <a:r>
              <a:rPr lang="en-IN" sz="2400" dirty="0"/>
              <a:t>Name</a:t>
            </a:r>
          </a:p>
          <a:p>
            <a:pPr lvl="1"/>
            <a:r>
              <a:rPr lang="en-IN" sz="2400" dirty="0"/>
              <a:t>Contact information</a:t>
            </a:r>
          </a:p>
          <a:p>
            <a:pPr lvl="0"/>
            <a:r>
              <a:rPr lang="en-IN" sz="2400" dirty="0"/>
              <a:t>- Supports </a:t>
            </a:r>
            <a:r>
              <a:rPr lang="en-IN" sz="2400" b="1" dirty="0"/>
              <a:t>issuing and returning books</a:t>
            </a:r>
            <a:endParaRPr lang="en-IN" sz="2400" dirty="0"/>
          </a:p>
          <a:p>
            <a:pPr lvl="0"/>
            <a:r>
              <a:rPr lang="en-IN" sz="2400" dirty="0"/>
              <a:t>- Automatically updates book availability after issue/return</a:t>
            </a:r>
          </a:p>
          <a:p>
            <a:pPr lvl="0"/>
            <a:r>
              <a:rPr lang="en-IN" sz="2400" dirty="0"/>
              <a:t>- Calculates </a:t>
            </a:r>
            <a:r>
              <a:rPr lang="en-IN" sz="2400" b="1" dirty="0"/>
              <a:t>fine for late returns</a:t>
            </a:r>
            <a:r>
              <a:rPr lang="en-IN" sz="2400" dirty="0"/>
              <a:t> (optional feature)</a:t>
            </a:r>
          </a:p>
          <a:p>
            <a:r>
              <a:rPr lang="en-IN" sz="2400" dirty="0"/>
              <a:t> - Implements </a:t>
            </a:r>
            <a:r>
              <a:rPr lang="en-IN" sz="2400" b="1" dirty="0"/>
              <a:t>structures (struct)</a:t>
            </a:r>
            <a:r>
              <a:rPr lang="en-IN" sz="2400" dirty="0"/>
              <a:t> to organize data</a:t>
            </a:r>
          </a:p>
          <a:p>
            <a:pPr lvl="0"/>
            <a:r>
              <a:rPr lang="en-IN" sz="2400" dirty="0"/>
              <a:t>- Uses </a:t>
            </a:r>
            <a:r>
              <a:rPr lang="en-IN" sz="2400" b="1" dirty="0"/>
              <a:t>functions</a:t>
            </a:r>
            <a:r>
              <a:rPr lang="en-IN" sz="2400" dirty="0"/>
              <a:t> for modular and reusable code</a:t>
            </a:r>
          </a:p>
          <a:p>
            <a:pPr lvl="0"/>
            <a:r>
              <a:rPr lang="en-IN" sz="2400" dirty="0"/>
              <a:t>- Provides a </a:t>
            </a:r>
            <a:r>
              <a:rPr lang="en-IN" sz="2400" b="1" dirty="0"/>
              <a:t>menu-driven interface</a:t>
            </a:r>
            <a:r>
              <a:rPr lang="en-IN" sz="2400" dirty="0"/>
              <a:t> for user interaction</a:t>
            </a:r>
          </a:p>
          <a:p>
            <a:pPr lvl="0"/>
            <a:r>
              <a:rPr lang="en-IN" sz="2400" dirty="0"/>
              <a:t>- Includes </a:t>
            </a:r>
            <a:r>
              <a:rPr lang="en-IN" sz="2400" b="1" dirty="0"/>
              <a:t>basic input validation</a:t>
            </a:r>
            <a:endParaRPr lang="en-IN" sz="2400" dirty="0"/>
          </a:p>
          <a:p>
            <a:pPr lvl="0"/>
            <a:r>
              <a:rPr lang="en-IN" sz="2400" dirty="0"/>
              <a:t>- Designed for </a:t>
            </a:r>
            <a:r>
              <a:rPr lang="en-IN" sz="2400" b="1" dirty="0"/>
              <a:t>small libraries or academic use</a:t>
            </a:r>
            <a:endParaRPr lang="en-IN" sz="2400" dirty="0"/>
          </a:p>
          <a:p>
            <a:pPr lvl="0"/>
            <a:r>
              <a:rPr lang="en-IN" sz="2400" dirty="0"/>
              <a:t>- Can be extended with:</a:t>
            </a:r>
          </a:p>
          <a:p>
            <a:pPr lvl="1"/>
            <a:r>
              <a:rPr lang="en-IN" sz="2400" dirty="0"/>
              <a:t>Login system</a:t>
            </a:r>
          </a:p>
          <a:p>
            <a:pPr lvl="1"/>
            <a:r>
              <a:rPr lang="en-IN" sz="2400" dirty="0"/>
              <a:t>Admin/user roles</a:t>
            </a:r>
          </a:p>
          <a:p>
            <a:pPr lvl="1"/>
            <a:r>
              <a:rPr lang="en-IN" sz="2400" dirty="0"/>
              <a:t>Report generation</a:t>
            </a:r>
          </a:p>
          <a:p>
            <a:pPr marL="285750" indent="-285750">
              <a:buFontTx/>
              <a:buChar char="-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51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A99FC-F014-1255-D231-6D27433D8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editor used along with OS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D831C-0AFB-C485-E4F4-1F181884B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Editor and Operating System Used</a:t>
            </a:r>
          </a:p>
          <a:p>
            <a:r>
              <a:rPr lang="en-US" b="1" dirty="0"/>
              <a:t>Editor</a:t>
            </a:r>
            <a:r>
              <a:rPr lang="en-US" dirty="0"/>
              <a:t>: Dev-C++</a:t>
            </a:r>
          </a:p>
          <a:p>
            <a:r>
              <a:rPr lang="en-US" b="1" dirty="0"/>
              <a:t>Operating System</a:t>
            </a:r>
            <a:r>
              <a:rPr lang="en-US" dirty="0"/>
              <a:t>: Windows 11</a:t>
            </a:r>
          </a:p>
          <a:p>
            <a:r>
              <a:rPr lang="en-US" b="1" dirty="0"/>
              <a:t>Language</a:t>
            </a:r>
            <a:r>
              <a:rPr lang="en-US" dirty="0"/>
              <a:t>: C Programming</a:t>
            </a:r>
          </a:p>
          <a:p>
            <a:r>
              <a:rPr lang="en-US" b="1" dirty="0"/>
              <a:t>Compiler</a:t>
            </a:r>
            <a:r>
              <a:rPr lang="en-US" dirty="0"/>
              <a:t>: TDM-GCC (used by Dev-C++)</a:t>
            </a:r>
          </a:p>
        </p:txBody>
      </p:sp>
    </p:spTree>
    <p:extLst>
      <p:ext uri="{BB962C8B-B14F-4D97-AF65-F5344CB8AC3E}">
        <p14:creationId xmlns:p14="http://schemas.microsoft.com/office/powerpoint/2010/main" val="342139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C712-E5BD-291F-273D-6847A387F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code execution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DF035-983D-57BA-8C2B-520206319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 Header Files execution </a:t>
            </a:r>
          </a:p>
          <a:p>
            <a:r>
              <a:rPr lang="en-US" dirty="0"/>
              <a:t>     </a:t>
            </a:r>
            <a:r>
              <a:rPr lang="en-US" dirty="0" err="1"/>
              <a:t>stdio.h</a:t>
            </a:r>
            <a:r>
              <a:rPr lang="en-US" dirty="0"/>
              <a:t>  - Enables input/output functions (</a:t>
            </a:r>
            <a:r>
              <a:rPr lang="en-US" dirty="0" err="1"/>
              <a:t>printf,scanf</a:t>
            </a:r>
            <a:r>
              <a:rPr lang="en-US" dirty="0"/>
              <a:t>)</a:t>
            </a:r>
          </a:p>
          <a:p>
            <a:r>
              <a:rPr lang="en-US" dirty="0"/>
              <a:t>     </a:t>
            </a:r>
            <a:r>
              <a:rPr lang="en-US" dirty="0" err="1"/>
              <a:t>stdlib.h</a:t>
            </a:r>
            <a:r>
              <a:rPr lang="en-US" dirty="0"/>
              <a:t> – Enables exit() function </a:t>
            </a:r>
          </a:p>
          <a:p>
            <a:r>
              <a:rPr lang="en-US" dirty="0"/>
              <a:t>      </a:t>
            </a:r>
            <a:r>
              <a:rPr lang="en-US" dirty="0" err="1"/>
              <a:t>string.h</a:t>
            </a:r>
            <a:r>
              <a:rPr lang="en-US" dirty="0"/>
              <a:t>-Enable string operations(used for names)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 structure definition</a:t>
            </a:r>
          </a:p>
          <a:p>
            <a:pPr marL="0" indent="0">
              <a:buNone/>
            </a:pPr>
            <a:r>
              <a:rPr lang="en-US" dirty="0"/>
              <a:t>Defines a structure to store book details</a:t>
            </a:r>
          </a:p>
          <a:p>
            <a:pPr marL="0" indent="0">
              <a:buNone/>
            </a:pPr>
            <a:r>
              <a:rPr lang="en-US" dirty="0"/>
              <a:t>No memory allocated yet</a:t>
            </a:r>
          </a:p>
          <a:p>
            <a:pPr marL="0" indent="0">
              <a:buNone/>
            </a:pPr>
            <a:r>
              <a:rPr lang="en-US" dirty="0"/>
              <a:t>Acts as a blue print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109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71FF75-8300-2CA1-1DE9-BD314B765200}"/>
              </a:ext>
            </a:extLst>
          </p:cNvPr>
          <p:cNvSpPr txBox="1"/>
          <p:nvPr/>
        </p:nvSpPr>
        <p:spPr>
          <a:xfrm>
            <a:off x="0" y="172720"/>
            <a:ext cx="120904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"/>
            </a:pPr>
            <a:r>
              <a:rPr lang="en-US" dirty="0"/>
              <a:t>Global variable initialization</a:t>
            </a:r>
          </a:p>
          <a:p>
            <a:r>
              <a:rPr lang="en-US" dirty="0"/>
              <a:t> - lib[100]  - can store details of 100 books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Count -  Tracks number  of books added</a:t>
            </a:r>
          </a:p>
          <a:p>
            <a:pPr marL="285750" indent="-285750">
              <a:buFontTx/>
              <a:buChar char="-"/>
            </a:pPr>
            <a:r>
              <a:rPr lang="en-US" dirty="0"/>
              <a:t>Memory allocated before main starts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IN" dirty="0"/>
              <a:t>4. Program start from main()</a:t>
            </a:r>
          </a:p>
          <a:p>
            <a:r>
              <a:rPr lang="en-IN" dirty="0"/>
              <a:t>-Execution always begins from main </a:t>
            </a:r>
          </a:p>
          <a:p>
            <a:r>
              <a:rPr lang="en-IN" dirty="0"/>
              <a:t>-choice variable is declared </a:t>
            </a:r>
          </a:p>
          <a:p>
            <a:endParaRPr lang="en-IN" dirty="0"/>
          </a:p>
          <a:p>
            <a:endParaRPr lang="en-US" dirty="0"/>
          </a:p>
          <a:p>
            <a:r>
              <a:rPr lang="en-US" dirty="0"/>
              <a:t>5. Infinite loop execution</a:t>
            </a:r>
          </a:p>
          <a:p>
            <a:r>
              <a:rPr lang="en-US" dirty="0"/>
              <a:t>-Keeps the program running continuously</a:t>
            </a:r>
          </a:p>
          <a:p>
            <a:r>
              <a:rPr lang="en-US" dirty="0"/>
              <a:t>-Menu repeats until user chooses exit </a:t>
            </a:r>
          </a:p>
          <a:p>
            <a:endParaRPr lang="en-US" dirty="0"/>
          </a:p>
          <a:p>
            <a:r>
              <a:rPr lang="en-IN" dirty="0"/>
              <a:t>6. Menu Display</a:t>
            </a:r>
          </a:p>
          <a:p>
            <a:r>
              <a:rPr lang="en-IN" dirty="0"/>
              <a:t>-Displays available operations to the user </a:t>
            </a:r>
          </a:p>
          <a:p>
            <a:endParaRPr lang="en-IN" dirty="0"/>
          </a:p>
          <a:p>
            <a:r>
              <a:rPr lang="en-IN" dirty="0"/>
              <a:t>7. User choice input </a:t>
            </a:r>
          </a:p>
          <a:p>
            <a:r>
              <a:rPr lang="en-IN" dirty="0"/>
              <a:t>-Reads the option selected by the user </a:t>
            </a:r>
          </a:p>
          <a:p>
            <a:endParaRPr lang="en-IN" dirty="0"/>
          </a:p>
          <a:p>
            <a:r>
              <a:rPr lang="en-IN" dirty="0"/>
              <a:t>8. Switch case execution</a:t>
            </a:r>
          </a:p>
          <a:p>
            <a:r>
              <a:rPr lang="en-IN" dirty="0"/>
              <a:t>-Based on user input corresponding case executes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396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3023D9-1006-CCC4-72A9-29C162771CDE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F9F4F-A296-910B-F2C6-786FE2A78535}"/>
              </a:ext>
            </a:extLst>
          </p:cNvPr>
          <p:cNvSpPr txBox="1"/>
          <p:nvPr/>
        </p:nvSpPr>
        <p:spPr>
          <a:xfrm>
            <a:off x="71120" y="101600"/>
            <a:ext cx="119583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🔹 Case-wise Execution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▶ Case 1: Add Book</a:t>
            </a:r>
          </a:p>
          <a:p>
            <a:r>
              <a:rPr lang="en-US" dirty="0" err="1"/>
              <a:t>addBook</a:t>
            </a:r>
            <a:r>
              <a:rPr lang="en-US" dirty="0"/>
              <a:t>();</a:t>
            </a:r>
          </a:p>
          <a:p>
            <a:r>
              <a:rPr lang="en-US" b="1" dirty="0"/>
              <a:t>Execution inside </a:t>
            </a:r>
            <a:r>
              <a:rPr lang="en-US" b="1" dirty="0" err="1"/>
              <a:t>addBook</a:t>
            </a:r>
            <a:r>
              <a:rPr lang="en-US" b="1" dirty="0"/>
              <a:t>()</a:t>
            </a:r>
            <a:endParaRPr lang="en-US" dirty="0"/>
          </a:p>
          <a:p>
            <a:r>
              <a:rPr lang="en-US" dirty="0"/>
              <a:t>Takes book ID, name, author, quantity</a:t>
            </a:r>
          </a:p>
          <a:p>
            <a:r>
              <a:rPr lang="en-US" dirty="0"/>
              <a:t>Stores data in lib[count]</a:t>
            </a:r>
          </a:p>
          <a:p>
            <a:r>
              <a:rPr lang="en-US" dirty="0"/>
              <a:t>Increments count</a:t>
            </a:r>
          </a:p>
          <a:p>
            <a:r>
              <a:rPr lang="en-US" dirty="0"/>
              <a:t>Control returns to main()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▶ Case 2: Display Books</a:t>
            </a:r>
          </a:p>
          <a:p>
            <a:r>
              <a:rPr lang="en-US" dirty="0" err="1"/>
              <a:t>displayBooks</a:t>
            </a:r>
            <a:r>
              <a:rPr lang="en-US" dirty="0"/>
              <a:t>();</a:t>
            </a:r>
          </a:p>
          <a:p>
            <a:r>
              <a:rPr lang="en-US" b="1" dirty="0"/>
              <a:t>Execution</a:t>
            </a:r>
            <a:endParaRPr lang="en-US" dirty="0"/>
          </a:p>
          <a:p>
            <a:r>
              <a:rPr lang="en-US" dirty="0"/>
              <a:t>Checks if count == 0</a:t>
            </a:r>
          </a:p>
          <a:p>
            <a:r>
              <a:rPr lang="en-US" dirty="0"/>
              <a:t>If books exist, loop prints all book details</a:t>
            </a:r>
          </a:p>
          <a:p>
            <a:r>
              <a:rPr lang="en-US" dirty="0"/>
              <a:t>Control returns to main()</a:t>
            </a:r>
          </a:p>
          <a:p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11059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483C18-CCCD-5F71-93FC-519F2F7F2807}"/>
              </a:ext>
            </a:extLst>
          </p:cNvPr>
          <p:cNvSpPr txBox="1"/>
          <p:nvPr/>
        </p:nvSpPr>
        <p:spPr>
          <a:xfrm>
            <a:off x="265471" y="393290"/>
            <a:ext cx="1164139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▶ Case 3: Search Book</a:t>
            </a:r>
            <a:endParaRPr lang="en-IN" dirty="0"/>
          </a:p>
          <a:p>
            <a:r>
              <a:rPr lang="en-IN" dirty="0" err="1"/>
              <a:t>searchBook</a:t>
            </a:r>
            <a:r>
              <a:rPr lang="en-IN" dirty="0"/>
              <a:t>();</a:t>
            </a:r>
          </a:p>
          <a:p>
            <a:r>
              <a:rPr lang="en-IN" b="1" dirty="0"/>
              <a:t>Execution</a:t>
            </a:r>
            <a:endParaRPr lang="en-IN" dirty="0"/>
          </a:p>
          <a:p>
            <a:pPr lvl="0"/>
            <a:r>
              <a:rPr lang="en-IN" dirty="0"/>
              <a:t>User enters book ID</a:t>
            </a:r>
          </a:p>
          <a:p>
            <a:pPr lvl="0"/>
            <a:r>
              <a:rPr lang="en-IN" dirty="0"/>
              <a:t>Loop compares ID with stored books</a:t>
            </a:r>
          </a:p>
          <a:p>
            <a:pPr lvl="0"/>
            <a:r>
              <a:rPr lang="en-IN" dirty="0"/>
              <a:t>If match found → displays details</a:t>
            </a:r>
          </a:p>
          <a:p>
            <a:pPr lvl="0"/>
            <a:r>
              <a:rPr lang="en-IN" dirty="0"/>
              <a:t>Else → prints “Book not found”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▶ Case 4: Issue Book</a:t>
            </a:r>
            <a:endParaRPr lang="en-IN" dirty="0"/>
          </a:p>
          <a:p>
            <a:r>
              <a:rPr lang="en-IN" dirty="0" err="1"/>
              <a:t>issueBook</a:t>
            </a:r>
            <a:r>
              <a:rPr lang="en-IN" dirty="0"/>
              <a:t>();</a:t>
            </a:r>
          </a:p>
          <a:p>
            <a:r>
              <a:rPr lang="en-IN" b="1" dirty="0"/>
              <a:t>Execution</a:t>
            </a:r>
            <a:endParaRPr lang="en-IN" dirty="0"/>
          </a:p>
          <a:p>
            <a:pPr lvl="0"/>
            <a:r>
              <a:rPr lang="en-IN" dirty="0"/>
              <a:t>Checks book availability</a:t>
            </a:r>
          </a:p>
          <a:p>
            <a:pPr lvl="0"/>
            <a:r>
              <a:rPr lang="en-IN" dirty="0"/>
              <a:t>Reduces quantity by 1 if available</a:t>
            </a:r>
          </a:p>
          <a:p>
            <a:r>
              <a:rPr lang="en-IN" dirty="0"/>
              <a:t>Displays success message</a:t>
            </a:r>
          </a:p>
        </p:txBody>
      </p:sp>
    </p:spTree>
    <p:extLst>
      <p:ext uri="{BB962C8B-B14F-4D97-AF65-F5344CB8AC3E}">
        <p14:creationId xmlns:p14="http://schemas.microsoft.com/office/powerpoint/2010/main" val="3209404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86BCD5-6A2A-B124-B533-A67BDAF2CBCF}"/>
              </a:ext>
            </a:extLst>
          </p:cNvPr>
          <p:cNvSpPr txBox="1"/>
          <p:nvPr/>
        </p:nvSpPr>
        <p:spPr>
          <a:xfrm>
            <a:off x="304800" y="363794"/>
            <a:ext cx="1150374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▶ Case 5: Return Book</a:t>
            </a:r>
            <a:endParaRPr lang="en-IN" dirty="0"/>
          </a:p>
          <a:p>
            <a:r>
              <a:rPr lang="en-IN" dirty="0" err="1"/>
              <a:t>returnBook</a:t>
            </a:r>
            <a:r>
              <a:rPr lang="en-IN" dirty="0"/>
              <a:t>();</a:t>
            </a:r>
          </a:p>
          <a:p>
            <a:r>
              <a:rPr lang="en-IN" b="1" dirty="0"/>
              <a:t>Execution</a:t>
            </a:r>
            <a:endParaRPr lang="en-IN" dirty="0"/>
          </a:p>
          <a:p>
            <a:pPr lvl="0"/>
            <a:r>
              <a:rPr lang="en-IN" dirty="0"/>
              <a:t>Increases book quantity by 1</a:t>
            </a:r>
          </a:p>
          <a:p>
            <a:pPr lvl="0"/>
            <a:r>
              <a:rPr lang="en-IN" dirty="0"/>
              <a:t>Confirms return operation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▶ Case 6: Exit Program</a:t>
            </a:r>
            <a:endParaRPr lang="en-IN" dirty="0"/>
          </a:p>
          <a:p>
            <a:r>
              <a:rPr lang="en-IN" dirty="0"/>
              <a:t>exit(0);</a:t>
            </a:r>
          </a:p>
          <a:p>
            <a:pPr lvl="0"/>
            <a:r>
              <a:rPr lang="en-IN" dirty="0"/>
              <a:t>Terminates program execution</a:t>
            </a:r>
          </a:p>
          <a:p>
            <a:pPr lvl="0"/>
            <a:r>
              <a:rPr lang="en-IN" dirty="0"/>
              <a:t>Control returns to Operating System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▶ Default Case</a:t>
            </a:r>
            <a:endParaRPr lang="en-IN" dirty="0"/>
          </a:p>
          <a:p>
            <a:r>
              <a:rPr lang="en-IN" dirty="0"/>
              <a:t>default:</a:t>
            </a:r>
          </a:p>
          <a:p>
            <a:r>
              <a:rPr lang="en-IN" dirty="0"/>
              <a:t>printf("Invalid choice");</a:t>
            </a:r>
          </a:p>
          <a:p>
            <a:pPr lvl="0"/>
            <a:r>
              <a:rPr lang="en-IN" dirty="0"/>
              <a:t>Executes when user enters wrong option</a:t>
            </a:r>
          </a:p>
          <a:p>
            <a:endParaRPr lang="en-IN" dirty="0"/>
          </a:p>
          <a:p>
            <a:r>
              <a:rPr lang="en-IN" b="1" dirty="0"/>
              <a:t> Program Flow Repeats</a:t>
            </a:r>
            <a:endParaRPr lang="en-IN" dirty="0"/>
          </a:p>
          <a:p>
            <a:r>
              <a:rPr lang="en-IN" dirty="0"/>
              <a:t>After every operation:</a:t>
            </a:r>
          </a:p>
          <a:p>
            <a:pPr lvl="0"/>
            <a:r>
              <a:rPr lang="en-IN" dirty="0"/>
              <a:t>Control returns to while(1)</a:t>
            </a:r>
          </a:p>
          <a:p>
            <a:pPr lvl="0"/>
            <a:r>
              <a:rPr lang="en-IN" dirty="0"/>
              <a:t>Menu is displayed again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330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82202D36-EE65-0C31-AC3E-FC17A0591428}"/>
              </a:ext>
            </a:extLst>
          </p:cNvPr>
          <p:cNvSpPr txBox="1"/>
          <p:nvPr/>
        </p:nvSpPr>
        <p:spPr>
          <a:xfrm>
            <a:off x="275303" y="373626"/>
            <a:ext cx="1167089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dirty="0"/>
            </a:br>
            <a:r>
              <a:rPr lang="en-IN" dirty="0"/>
              <a:t>Key concepts  Demonstrated</a:t>
            </a:r>
          </a:p>
          <a:p>
            <a:endParaRPr lang="en-IN" dirty="0"/>
          </a:p>
          <a:p>
            <a:r>
              <a:rPr lang="en-IN" b="1" dirty="0"/>
              <a:t>1. Use of Structures</a:t>
            </a:r>
            <a:endParaRPr lang="en-IN" dirty="0"/>
          </a:p>
          <a:p>
            <a:pPr lvl="0"/>
            <a:r>
              <a:rPr lang="en-IN" dirty="0"/>
              <a:t>Demonstrates how struct is used to group related data</a:t>
            </a:r>
          </a:p>
          <a:p>
            <a:pPr lvl="0"/>
            <a:r>
              <a:rPr lang="en-IN" dirty="0"/>
              <a:t>Stores book ID, name, author, and quantity in a single unit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2. Menu-Driven Program</a:t>
            </a:r>
            <a:endParaRPr lang="en-IN" dirty="0"/>
          </a:p>
          <a:p>
            <a:pPr lvl="0"/>
            <a:r>
              <a:rPr lang="en-IN" dirty="0"/>
              <a:t>Uses a menu to perform multiple operations</a:t>
            </a:r>
          </a:p>
          <a:p>
            <a:pPr lvl="0"/>
            <a:r>
              <a:rPr lang="en-IN" dirty="0"/>
              <a:t>Improves user interaction and program flexibility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</a:t>
            </a:r>
            <a:r>
              <a:rPr lang="en-IN" b="1" dirty="0"/>
              <a:t>Function Modularization</a:t>
            </a:r>
            <a:endParaRPr lang="en-IN" dirty="0"/>
          </a:p>
          <a:p>
            <a:pPr lvl="0"/>
            <a:r>
              <a:rPr lang="en-IN" dirty="0"/>
              <a:t>Program is divided into functions like:</a:t>
            </a:r>
          </a:p>
          <a:p>
            <a:pPr lvl="1"/>
            <a:r>
              <a:rPr lang="en-IN" dirty="0" err="1"/>
              <a:t>addBook</a:t>
            </a:r>
            <a:r>
              <a:rPr lang="en-IN" dirty="0"/>
              <a:t>()</a:t>
            </a:r>
          </a:p>
          <a:p>
            <a:pPr lvl="1"/>
            <a:r>
              <a:rPr lang="en-IN" dirty="0" err="1"/>
              <a:t>displayBooks</a:t>
            </a:r>
            <a:r>
              <a:rPr lang="en-IN" dirty="0"/>
              <a:t>()</a:t>
            </a:r>
          </a:p>
          <a:p>
            <a:pPr lvl="1"/>
            <a:r>
              <a:rPr lang="en-IN" dirty="0" err="1"/>
              <a:t>searchBook</a:t>
            </a:r>
            <a:r>
              <a:rPr lang="en-IN" dirty="0"/>
              <a:t>()</a:t>
            </a:r>
          </a:p>
          <a:p>
            <a:pPr lvl="1"/>
            <a:r>
              <a:rPr lang="en-IN" dirty="0" err="1"/>
              <a:t>issueBook</a:t>
            </a:r>
            <a:r>
              <a:rPr lang="en-IN" dirty="0"/>
              <a:t>()</a:t>
            </a:r>
          </a:p>
          <a:p>
            <a:pPr lvl="1"/>
            <a:r>
              <a:rPr lang="en-IN" dirty="0" err="1"/>
              <a:t>returnBook</a:t>
            </a:r>
            <a:r>
              <a:rPr lang="en-IN" dirty="0"/>
              <a:t>()</a:t>
            </a:r>
          </a:p>
          <a:p>
            <a:r>
              <a:rPr lang="en-IN" dirty="0"/>
              <a:t>Enhances code readability and reusability</a:t>
            </a:r>
          </a:p>
        </p:txBody>
      </p:sp>
    </p:spTree>
    <p:extLst>
      <p:ext uri="{BB962C8B-B14F-4D97-AF65-F5344CB8AC3E}">
        <p14:creationId xmlns:p14="http://schemas.microsoft.com/office/powerpoint/2010/main" val="3626449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D1F8EB-7DED-FBF6-BE59-CEB5B3B2E6E6}"/>
              </a:ext>
            </a:extLst>
          </p:cNvPr>
          <p:cNvSpPr txBox="1"/>
          <p:nvPr/>
        </p:nvSpPr>
        <p:spPr>
          <a:xfrm>
            <a:off x="147484" y="255639"/>
            <a:ext cx="1182820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4. Array of Structures</a:t>
            </a:r>
            <a:endParaRPr lang="en-IN" dirty="0"/>
          </a:p>
          <a:p>
            <a:pPr lvl="0"/>
            <a:r>
              <a:rPr lang="en-IN" dirty="0"/>
              <a:t>Uses an array of structures to store multiple book records</a:t>
            </a:r>
          </a:p>
          <a:p>
            <a:pPr lvl="0"/>
            <a:r>
              <a:rPr lang="en-IN" dirty="0"/>
              <a:t>Demonstrates real-world data handling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5. </a:t>
            </a:r>
            <a:r>
              <a:rPr lang="en-IN" b="1" dirty="0"/>
              <a:t>Conditional Statements</a:t>
            </a:r>
            <a:endParaRPr lang="en-IN" dirty="0"/>
          </a:p>
          <a:p>
            <a:pPr lvl="0"/>
            <a:r>
              <a:rPr lang="en-IN" dirty="0"/>
              <a:t>Uses if, else, and switch statements</a:t>
            </a:r>
          </a:p>
          <a:p>
            <a:pPr lvl="0"/>
            <a:r>
              <a:rPr lang="en-IN" dirty="0"/>
              <a:t>Controls program flow and decision making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6. </a:t>
            </a:r>
            <a:r>
              <a:rPr lang="en-IN" b="1" dirty="0"/>
              <a:t>Looping Constructs</a:t>
            </a:r>
            <a:endParaRPr lang="en-IN" dirty="0"/>
          </a:p>
          <a:p>
            <a:pPr lvl="0"/>
            <a:r>
              <a:rPr lang="en-IN" dirty="0"/>
              <a:t>Uses while and for loops</a:t>
            </a:r>
          </a:p>
          <a:p>
            <a:pPr lvl="0"/>
            <a:r>
              <a:rPr lang="en-IN" dirty="0"/>
              <a:t>Enables repeated menu execution and data traversal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7. </a:t>
            </a:r>
            <a:r>
              <a:rPr lang="en-IN" b="1" dirty="0"/>
              <a:t>User Input and Output Handling</a:t>
            </a:r>
            <a:endParaRPr lang="en-IN" dirty="0"/>
          </a:p>
          <a:p>
            <a:pPr lvl="0"/>
            <a:r>
              <a:rPr lang="en-IN" dirty="0"/>
              <a:t>Uses </a:t>
            </a:r>
            <a:r>
              <a:rPr lang="en-IN" dirty="0" err="1"/>
              <a:t>scanf</a:t>
            </a:r>
            <a:r>
              <a:rPr lang="en-IN" dirty="0"/>
              <a:t>() and printf() for interaction</a:t>
            </a:r>
          </a:p>
          <a:p>
            <a:pPr lvl="0"/>
            <a:r>
              <a:rPr lang="en-IN" dirty="0"/>
              <a:t>Demonstrates console-based I/O operations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186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D7B031-787C-2606-6D4D-6BE42506BE7A}"/>
              </a:ext>
            </a:extLst>
          </p:cNvPr>
          <p:cNvSpPr txBox="1"/>
          <p:nvPr/>
        </p:nvSpPr>
        <p:spPr>
          <a:xfrm>
            <a:off x="176981" y="344129"/>
            <a:ext cx="11867535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8. </a:t>
            </a:r>
            <a:r>
              <a:rPr lang="en-IN" b="1" dirty="0"/>
              <a:t>Search Operation Logic</a:t>
            </a:r>
            <a:endParaRPr lang="en-IN" dirty="0"/>
          </a:p>
          <a:p>
            <a:pPr lvl="0"/>
            <a:r>
              <a:rPr lang="en-IN" dirty="0"/>
              <a:t>Implements linear search to find books by ID</a:t>
            </a:r>
          </a:p>
          <a:p>
            <a:pPr lvl="0"/>
            <a:r>
              <a:rPr lang="en-IN" dirty="0"/>
              <a:t>Shows basic searching techniques</a:t>
            </a:r>
            <a:br>
              <a:rPr lang="en-IN" dirty="0"/>
            </a:br>
            <a:endParaRPr lang="en-IN" dirty="0"/>
          </a:p>
          <a:p>
            <a:r>
              <a:rPr lang="en-IN" dirty="0"/>
              <a:t>9. </a:t>
            </a:r>
            <a:r>
              <a:rPr lang="en-IN" b="1" dirty="0"/>
              <a:t>Data Update Operations</a:t>
            </a:r>
            <a:endParaRPr lang="en-IN" dirty="0"/>
          </a:p>
          <a:p>
            <a:pPr lvl="0"/>
            <a:r>
              <a:rPr lang="en-IN" dirty="0"/>
              <a:t>Book issuing decreases quantity</a:t>
            </a:r>
          </a:p>
          <a:p>
            <a:pPr lvl="0"/>
            <a:r>
              <a:rPr lang="en-IN" dirty="0"/>
              <a:t>Book returning increases quantity</a:t>
            </a:r>
          </a:p>
          <a:p>
            <a:pPr lvl="0"/>
            <a:r>
              <a:rPr lang="en-IN" dirty="0"/>
              <a:t>Demonstrates real-time data modification</a:t>
            </a:r>
          </a:p>
          <a:p>
            <a:endParaRPr lang="en-IN" dirty="0"/>
          </a:p>
          <a:p>
            <a:r>
              <a:rPr lang="en-IN" b="1" dirty="0"/>
              <a:t>10.Error Handling</a:t>
            </a:r>
            <a:endParaRPr lang="en-IN" dirty="0"/>
          </a:p>
          <a:p>
            <a:pPr lvl="0"/>
            <a:r>
              <a:rPr lang="en-IN" dirty="0"/>
              <a:t>Displays messages for:</a:t>
            </a:r>
          </a:p>
          <a:p>
            <a:pPr lvl="1"/>
            <a:r>
              <a:rPr lang="en-IN" dirty="0"/>
              <a:t>Invalid menu choices</a:t>
            </a:r>
          </a:p>
          <a:p>
            <a:pPr lvl="1"/>
            <a:r>
              <a:rPr lang="en-IN" dirty="0"/>
              <a:t>Book not found</a:t>
            </a:r>
          </a:p>
          <a:p>
            <a:pPr lvl="1"/>
            <a:r>
              <a:rPr lang="en-IN" dirty="0"/>
              <a:t>Book out of stock</a:t>
            </a:r>
            <a:br>
              <a:rPr lang="en-IN" dirty="0"/>
            </a:br>
            <a:endParaRPr lang="en-IN" dirty="0"/>
          </a:p>
          <a:p>
            <a:r>
              <a:rPr lang="en-IN" dirty="0"/>
              <a:t>11. </a:t>
            </a:r>
            <a:r>
              <a:rPr lang="en-IN" b="1" dirty="0"/>
              <a:t>Use of Standard C Libraries</a:t>
            </a:r>
            <a:endParaRPr lang="en-IN" dirty="0"/>
          </a:p>
          <a:p>
            <a:pPr lvl="0"/>
            <a:r>
              <a:rPr lang="en-IN" dirty="0" err="1"/>
              <a:t>stdio.h</a:t>
            </a:r>
            <a:r>
              <a:rPr lang="en-IN" dirty="0"/>
              <a:t>, </a:t>
            </a:r>
            <a:r>
              <a:rPr lang="en-IN" dirty="0" err="1"/>
              <a:t>stdlib.h</a:t>
            </a:r>
            <a:r>
              <a:rPr lang="en-IN" dirty="0"/>
              <a:t>, </a:t>
            </a:r>
            <a:r>
              <a:rPr lang="en-IN" dirty="0" err="1"/>
              <a:t>string.h</a:t>
            </a:r>
            <a:endParaRPr lang="en-IN" dirty="0"/>
          </a:p>
          <a:p>
            <a:pPr lvl="0"/>
            <a:r>
              <a:rPr lang="en-IN" dirty="0"/>
              <a:t>Demonstrates proper use of C standard libraries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12. </a:t>
            </a:r>
            <a:r>
              <a:rPr lang="en-IN" b="1" dirty="0"/>
              <a:t>Program Termination Control</a:t>
            </a:r>
            <a:endParaRPr lang="en-IN" dirty="0"/>
          </a:p>
          <a:p>
            <a:pPr lvl="0"/>
            <a:r>
              <a:rPr lang="en-IN" dirty="0"/>
              <a:t>Uses exit(0) for proper program termination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4552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370FB-6560-B6FE-ACFF-4010C5D7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7729"/>
            <a:ext cx="10515600" cy="1514167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      THE END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887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797</Words>
  <Application>Microsoft Office PowerPoint</Application>
  <PresentationFormat>Widescreen</PresentationFormat>
  <Paragraphs>173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LIBRARY MANAGEMENT SYSTEM</vt:lpstr>
      <vt:lpstr>Your Idea in bullet point </vt:lpstr>
      <vt:lpstr>PowerPoint Presentation</vt:lpstr>
      <vt:lpstr>What is the editor used along with OS </vt:lpstr>
      <vt:lpstr>Explain the code execution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THE END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4</cp:revision>
  <dcterms:created xsi:type="dcterms:W3CDTF">2026-01-08T07:16:07Z</dcterms:created>
  <dcterms:modified xsi:type="dcterms:W3CDTF">2026-01-08T10:28:45Z</dcterms:modified>
</cp:coreProperties>
</file>